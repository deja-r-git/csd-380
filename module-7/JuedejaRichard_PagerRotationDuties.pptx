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91" r:id="rId7"/>
    <p:sldId id="408" r:id="rId8"/>
    <p:sldId id="407" r:id="rId9"/>
    <p:sldId id="406" r:id="rId10"/>
    <p:sldId id="405" r:id="rId11"/>
    <p:sldId id="404" r:id="rId12"/>
    <p:sldId id="3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6327" autoAdjust="0"/>
  </p:normalViewPr>
  <p:slideViewPr>
    <p:cSldViewPr snapToGrid="0">
      <p:cViewPr varScale="1">
        <p:scale>
          <a:sx n="73" d="100"/>
          <a:sy n="73" d="100"/>
        </p:scale>
        <p:origin x="76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lertops.com/on-call-rotati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Pager On-Call Rotation </a:t>
            </a:r>
            <a:br>
              <a:rPr lang="en-US" dirty="0"/>
            </a:br>
            <a:r>
              <a:rPr lang="en-US" dirty="0"/>
              <a:t>Best Practices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F072F-7335-D349-40E6-28E938D16468}"/>
              </a:ext>
            </a:extLst>
          </p:cNvPr>
          <p:cNvSpPr txBox="1"/>
          <p:nvPr/>
        </p:nvSpPr>
        <p:spPr>
          <a:xfrm>
            <a:off x="6309904" y="4180114"/>
            <a:ext cx="514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Juedeja</a:t>
            </a:r>
            <a:r>
              <a:rPr lang="en-US" dirty="0">
                <a:solidFill>
                  <a:schemeClr val="bg1"/>
                </a:solidFill>
              </a:rPr>
              <a:t> Richard | Module 7.2 |11-30-25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What is On-call Rotation?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Predefined schedule that ensures a team member is always available to respond to a crisis</a:t>
            </a:r>
          </a:p>
          <a:p>
            <a:r>
              <a:rPr lang="en-US" dirty="0"/>
              <a:t>Part of Incident Management</a:t>
            </a:r>
          </a:p>
          <a:p>
            <a:r>
              <a:rPr lang="en-US" dirty="0"/>
              <a:t>Systems are monitored 24/7</a:t>
            </a:r>
          </a:p>
          <a:p>
            <a:r>
              <a:rPr lang="en-US" dirty="0"/>
              <a:t>Team member is qualified to handle Crisis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Why are Rotations Needed?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Company growth can make handling Crises more complex</a:t>
            </a:r>
          </a:p>
          <a:p>
            <a:r>
              <a:rPr lang="en-US" dirty="0"/>
              <a:t>Allows you to quickly know who is available to handle it</a:t>
            </a:r>
          </a:p>
          <a:p>
            <a:r>
              <a:rPr lang="en-US" dirty="0"/>
              <a:t>Makes sure the right person is alerted of the Issue</a:t>
            </a:r>
          </a:p>
          <a:p>
            <a:r>
              <a:rPr lang="en-US" dirty="0"/>
              <a:t>Real-time monitoring supports security efforts</a:t>
            </a:r>
          </a:p>
          <a:p>
            <a:r>
              <a:rPr lang="en-US" dirty="0"/>
              <a:t>Protects company reputation and trust with Users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How to Create Rotation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pPr lvl="1"/>
            <a:r>
              <a:rPr lang="en-US" dirty="0"/>
              <a:t>Decide Frequency of Rotation (Weekly, Monthly)</a:t>
            </a:r>
          </a:p>
          <a:p>
            <a:pPr lvl="1"/>
            <a:r>
              <a:rPr lang="en-US" dirty="0"/>
              <a:t>Assign Backup in case of sickness, Injury, Fired, Quit</a:t>
            </a:r>
          </a:p>
          <a:p>
            <a:pPr lvl="1"/>
            <a:r>
              <a:rPr lang="en-US" dirty="0"/>
              <a:t>Stagger schedules according to time zones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Decide an Escalation Route</a:t>
            </a:r>
          </a:p>
          <a:p>
            <a:pPr lvl="1"/>
            <a:r>
              <a:rPr lang="en-US" dirty="0"/>
              <a:t>Use a Management Tool to automate schedules</a:t>
            </a:r>
          </a:p>
          <a:p>
            <a:pPr lvl="1"/>
            <a:r>
              <a:rPr lang="en-US" dirty="0"/>
              <a:t>Communicate Expectations when on Call</a:t>
            </a:r>
          </a:p>
          <a:p>
            <a:pPr lvl="1"/>
            <a:r>
              <a:rPr lang="en-US" dirty="0"/>
              <a:t>Measure number of alerts and be aware of employee workloads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457201"/>
            <a:ext cx="5198269" cy="23050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Automate Scheduling:</a:t>
            </a:r>
          </a:p>
          <a:p>
            <a:r>
              <a:rPr lang="en-US" dirty="0"/>
              <a:t>Reduces Manual Errors </a:t>
            </a:r>
          </a:p>
          <a:p>
            <a:r>
              <a:rPr lang="en-US" dirty="0"/>
              <a:t>Saves Time</a:t>
            </a:r>
          </a:p>
          <a:p>
            <a:r>
              <a:rPr lang="en-US" dirty="0"/>
              <a:t>Allows for Rotation Frequency Variety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810595"/>
            <a:ext cx="5198269" cy="3319513"/>
          </a:xfrm>
        </p:spPr>
        <p:txBody>
          <a:bodyPr>
            <a:normAutofit/>
          </a:bodyPr>
          <a:lstStyle/>
          <a:p>
            <a:r>
              <a:rPr lang="en-US" b="1" dirty="0"/>
              <a:t>Schedule with multi-time zone support:</a:t>
            </a:r>
          </a:p>
          <a:p>
            <a:pPr lvl="1"/>
            <a:r>
              <a:rPr lang="en-US" dirty="0"/>
              <a:t>Keeps global teams connected</a:t>
            </a:r>
          </a:p>
          <a:p>
            <a:pPr lvl="1"/>
            <a:r>
              <a:rPr lang="en-US" dirty="0"/>
              <a:t>Follow-the-sun method arranges team members availability by location</a:t>
            </a:r>
          </a:p>
          <a:p>
            <a:pPr lvl="1"/>
            <a:r>
              <a:rPr lang="en-US" dirty="0"/>
              <a:t>Helps remain fair with scheduling</a:t>
            </a:r>
          </a:p>
          <a:p>
            <a:pPr lvl="1"/>
            <a:r>
              <a:rPr lang="en-US" dirty="0"/>
              <a:t>Everyone can be involved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Reminder!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>
            <a:normAutofit/>
          </a:bodyPr>
          <a:lstStyle/>
          <a:p>
            <a:r>
              <a:rPr lang="en-US" dirty="0"/>
              <a:t>Communication and Awareness is Key.</a:t>
            </a:r>
          </a:p>
          <a:p>
            <a:r>
              <a:rPr lang="en-US" dirty="0"/>
              <a:t>Creating a safe environment will keep team members from hesitating to come to you when an issue arises</a:t>
            </a:r>
          </a:p>
          <a:p>
            <a:r>
              <a:rPr lang="en-US" dirty="0"/>
              <a:t>Balancing On-Call Rotation with Team Member workloads will keep them from experiencing burnout</a:t>
            </a:r>
          </a:p>
          <a:p>
            <a:endParaRPr lang="en-US" dirty="0"/>
          </a:p>
        </p:txBody>
      </p:sp>
      <p:pic>
        <p:nvPicPr>
          <p:cNvPr id="5" name="Picture Placeholder 52" descr="Hanging lightbulb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</p:spPr>
        <p:txBody>
          <a:bodyPr anchor="b">
            <a:normAutofit/>
          </a:bodyPr>
          <a:lstStyle/>
          <a:p>
            <a:r>
              <a:rPr lang="en-US" dirty="0"/>
              <a:t>Best Practices Part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17F0E-C8C9-9890-AC4B-649E91F8D913}"/>
              </a:ext>
            </a:extLst>
          </p:cNvPr>
          <p:cNvSpPr txBox="1"/>
          <p:nvPr/>
        </p:nvSpPr>
        <p:spPr>
          <a:xfrm>
            <a:off x="594360" y="2489982"/>
            <a:ext cx="57019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Create an Escalation Route and Assign a Backup Team member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Not every situation will be solved by the person on call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route will decide who next to alert about the issue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Backup will respond in the case original is unavailable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Covers all 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E5E787-CBB7-858F-DEF7-68F0D68D4E56}"/>
              </a:ext>
            </a:extLst>
          </p:cNvPr>
          <p:cNvSpPr txBox="1"/>
          <p:nvPr/>
        </p:nvSpPr>
        <p:spPr>
          <a:xfrm>
            <a:off x="6326777" y="2489982"/>
            <a:ext cx="52708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Train to Respond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There are many different crises that you team needs to be prepared for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Ensure they know what you expect them to do in the most common situations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Remind them about company policy and Escalation Routes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Help Develop relationships by having team members involved in each others' trainings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311D2-C762-268E-5D59-63C8F1D8F41D}"/>
              </a:ext>
            </a:extLst>
          </p:cNvPr>
          <p:cNvSpPr txBox="1"/>
          <p:nvPr/>
        </p:nvSpPr>
        <p:spPr>
          <a:xfrm>
            <a:off x="594360" y="2534194"/>
            <a:ext cx="98102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incident.io. (2024, February 26). </a:t>
            </a:r>
            <a:r>
              <a:rPr lang="en-US" i="1" dirty="0">
                <a:solidFill>
                  <a:schemeClr val="bg1"/>
                </a:solidFill>
              </a:rPr>
              <a:t>Best practices for creating a reliable on-call rotation</a:t>
            </a:r>
            <a:r>
              <a:rPr lang="en-US" dirty="0">
                <a:solidFill>
                  <a:schemeClr val="bg1"/>
                </a:solidFill>
              </a:rPr>
              <a:t>. Incident.io. https://incident.io/hubs/on-call/on-call-rotation-best-practices</a:t>
            </a:r>
            <a:endParaRPr lang="en-US" i="1" dirty="0">
              <a:solidFill>
                <a:schemeClr val="bg1"/>
              </a:solidFill>
            </a:endParaRPr>
          </a:p>
          <a:p>
            <a:endParaRPr lang="en-US" i="1" dirty="0">
              <a:solidFill>
                <a:schemeClr val="bg1"/>
              </a:solidFill>
            </a:endParaRPr>
          </a:p>
          <a:p>
            <a:r>
              <a:rPr lang="en-US" i="1" dirty="0">
                <a:solidFill>
                  <a:schemeClr val="bg1"/>
                </a:solidFill>
              </a:rPr>
              <a:t>On-Call Rotations and Schedules</a:t>
            </a:r>
            <a:r>
              <a:rPr lang="en-US" dirty="0">
                <a:solidFill>
                  <a:schemeClr val="bg1"/>
                </a:solidFill>
              </a:rPr>
              <a:t>. (2025, September 4). PagerDuty. https://www.pagerduty.com/resources/incident-management-response/learn/call-rotations-schedules/#heading-0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Yogesh. (2019, July 12). </a:t>
            </a:r>
            <a:r>
              <a:rPr lang="en-US" i="1" dirty="0">
                <a:solidFill>
                  <a:schemeClr val="bg1"/>
                </a:solidFill>
              </a:rPr>
              <a:t>Best Practices for Managing On-Call Rotation (in 2022)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AlertOps</a:t>
            </a:r>
            <a:r>
              <a:rPr lang="en-US" dirty="0">
                <a:solidFill>
                  <a:schemeClr val="bg1"/>
                </a:solidFill>
              </a:rPr>
              <a:t> | Master the Unexpected | Resolve Major IT Incidents &amp; Automate Real-Time Operations. </a:t>
            </a:r>
            <a:r>
              <a:rPr lang="en-US" dirty="0">
                <a:solidFill>
                  <a:srgbClr val="4495A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https://alertops.com/on-call-rotation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{5F52127F-5A83-465E-89F9-8EBC971C68DA}TFd3b75063-ff25-434d-b12c-efeaf07d16c3292f62b5_win32-75a75c970d8e</Template>
  <TotalTime>54</TotalTime>
  <Words>449</Words>
  <Application>Microsoft Office PowerPoint</Application>
  <PresentationFormat>Widescreen</PresentationFormat>
  <Paragraphs>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Franklin Gothic Book</vt:lpstr>
      <vt:lpstr>Franklin Gothic Demi</vt:lpstr>
      <vt:lpstr>Custom</vt:lpstr>
      <vt:lpstr>Pager On-Call Rotation  Best Practices</vt:lpstr>
      <vt:lpstr>What is On-call Rotation?</vt:lpstr>
      <vt:lpstr>Why are Rotations Needed?</vt:lpstr>
      <vt:lpstr>How to Create Rotation Schedule</vt:lpstr>
      <vt:lpstr>Best Practices</vt:lpstr>
      <vt:lpstr>Reminder!</vt:lpstr>
      <vt:lpstr>Best Practices Part 2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Deja Richard</dc:creator>
  <cp:lastModifiedBy>Deja Richard</cp:lastModifiedBy>
  <cp:revision>5</cp:revision>
  <dcterms:created xsi:type="dcterms:W3CDTF">2025-12-01T02:12:49Z</dcterms:created>
  <dcterms:modified xsi:type="dcterms:W3CDTF">2025-12-01T03:06:57Z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